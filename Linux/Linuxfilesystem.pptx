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embeddedFontLst>
    <p:embeddedFont>
      <p:font typeface="Red Hat Tex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5Ao7CtrbfnsjOAEkOvijE9r4A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RedHatText-regular.fntdata"/><Relationship Id="rId10" Type="http://schemas.openxmlformats.org/officeDocument/2006/relationships/slide" Target="slides/slide6.xml"/><Relationship Id="rId13" Type="http://schemas.openxmlformats.org/officeDocument/2006/relationships/font" Target="fonts/RedHatText-italic.fntdata"/><Relationship Id="rId12" Type="http://schemas.openxmlformats.org/officeDocument/2006/relationships/font" Target="fonts/RedHatTex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RedHatTex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p:nvPr>
            <p:ph idx="2" type="pic"/>
          </p:nvPr>
        </p:nvSpPr>
        <p:spPr>
          <a:xfrm>
            <a:off x="5183188" y="987425"/>
            <a:ext cx="6172200" cy="4873625"/>
          </a:xfrm>
          <a:prstGeom prst="rect">
            <a:avLst/>
          </a:prstGeom>
          <a:noFill/>
          <a:ln>
            <a:noFill/>
          </a:ln>
        </p:spPr>
      </p:sp>
      <p:sp>
        <p:nvSpPr>
          <p:cNvPr id="64" name="Google Shape;64;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1838725" y="29357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Linux File System Security</a:t>
            </a:r>
            <a:endParaRPr/>
          </a:p>
        </p:txBody>
      </p:sp>
      <p:sp>
        <p:nvSpPr>
          <p:cNvPr id="85" name="Google Shape;85;p1"/>
          <p:cNvSpPr txBox="1"/>
          <p:nvPr/>
        </p:nvSpPr>
        <p:spPr>
          <a:xfrm>
            <a:off x="1242874" y="1154059"/>
            <a:ext cx="100584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Linux File System Security restricts user to access the files and directories. User require permissions to access files or directories. “ls -l” or “ll” command can be used to check security of any file or directory. Above command will display contents from directory along with its security details. </a:t>
            </a:r>
            <a:endParaRPr/>
          </a:p>
        </p:txBody>
      </p:sp>
      <p:pic>
        <p:nvPicPr>
          <p:cNvPr id="86" name="Google Shape;86;p1"/>
          <p:cNvPicPr preferRelativeResize="0"/>
          <p:nvPr/>
        </p:nvPicPr>
        <p:blipFill rotWithShape="1">
          <a:blip r:embed="rId3">
            <a:alphaModFix/>
          </a:blip>
          <a:srcRect b="0" l="0" r="0" t="0"/>
          <a:stretch/>
        </p:blipFill>
        <p:spPr>
          <a:xfrm>
            <a:off x="2419225" y="2210193"/>
            <a:ext cx="6430272" cy="724001"/>
          </a:xfrm>
          <a:prstGeom prst="rect">
            <a:avLst/>
          </a:prstGeom>
          <a:noFill/>
          <a:ln>
            <a:noFill/>
          </a:ln>
        </p:spPr>
      </p:pic>
      <p:sp>
        <p:nvSpPr>
          <p:cNvPr id="87" name="Google Shape;87;p1"/>
          <p:cNvSpPr txBox="1"/>
          <p:nvPr/>
        </p:nvSpPr>
        <p:spPr>
          <a:xfrm>
            <a:off x="4334521" y="3195040"/>
            <a:ext cx="2909657" cy="313932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File type.</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Owner Permissions.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Group Permissions.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Other User Permission.</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Link Count.</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Owner of file/directory.</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Group Owner of File or Directory.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File Size.</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Creation Date and Time.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File/Directory Name.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nvSpPr>
        <p:spPr>
          <a:xfrm>
            <a:off x="410592" y="55485"/>
            <a:ext cx="7543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File Types in Linux: There are seven types of file available mentioned as below, </a:t>
            </a:r>
            <a:endParaRPr/>
          </a:p>
        </p:txBody>
      </p:sp>
      <p:pic>
        <p:nvPicPr>
          <p:cNvPr id="93" name="Google Shape;93;p2"/>
          <p:cNvPicPr preferRelativeResize="0"/>
          <p:nvPr/>
        </p:nvPicPr>
        <p:blipFill rotWithShape="1">
          <a:blip r:embed="rId3">
            <a:alphaModFix/>
          </a:blip>
          <a:srcRect b="49598" l="0" r="0" t="0"/>
          <a:stretch/>
        </p:blipFill>
        <p:spPr>
          <a:xfrm>
            <a:off x="3537494" y="576101"/>
            <a:ext cx="4353533" cy="835450"/>
          </a:xfrm>
          <a:prstGeom prst="rect">
            <a:avLst/>
          </a:prstGeom>
          <a:noFill/>
          <a:ln>
            <a:noFill/>
          </a:ln>
        </p:spPr>
      </p:pic>
      <p:sp>
        <p:nvSpPr>
          <p:cNvPr id="94" name="Google Shape;94;p2"/>
          <p:cNvSpPr txBox="1"/>
          <p:nvPr/>
        </p:nvSpPr>
        <p:spPr>
          <a:xfrm>
            <a:off x="472219" y="1778155"/>
            <a:ext cx="1128181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Regular</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File</a:t>
            </a:r>
            <a:r>
              <a:rPr lang="en-US" sz="1800">
                <a:solidFill>
                  <a:schemeClr val="dk1"/>
                </a:solidFill>
                <a:latin typeface="Calibri"/>
                <a:ea typeface="Calibri"/>
                <a:cs typeface="Calibri"/>
                <a:sym typeface="Calibri"/>
              </a:rPr>
              <a:t>: The regular file is a most common file type found on the Linux system. It governs all different files such us text files, images, binary files, shared libraries, etc.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Directory</a:t>
            </a:r>
            <a:r>
              <a:rPr lang="en-US" sz="1800">
                <a:solidFill>
                  <a:schemeClr val="dk1"/>
                </a:solidFill>
                <a:latin typeface="Calibri"/>
                <a:ea typeface="Calibri"/>
                <a:cs typeface="Calibri"/>
                <a:sym typeface="Calibri"/>
              </a:rPr>
              <a:t>: Directory is second most common file type found in Linux. Directory can be created with the mkdir command </a:t>
            </a:r>
            <a:endParaRPr/>
          </a:p>
        </p:txBody>
      </p:sp>
      <p:sp>
        <p:nvSpPr>
          <p:cNvPr id="95" name="Google Shape;95;p2"/>
          <p:cNvSpPr txBox="1"/>
          <p:nvPr/>
        </p:nvSpPr>
        <p:spPr>
          <a:xfrm>
            <a:off x="472219" y="3279352"/>
            <a:ext cx="111131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Symbolic</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Link</a:t>
            </a:r>
            <a:r>
              <a:rPr lang="en-US" sz="1800">
                <a:solidFill>
                  <a:schemeClr val="dk1"/>
                </a:solidFill>
                <a:latin typeface="Calibri"/>
                <a:ea typeface="Calibri"/>
                <a:cs typeface="Calibri"/>
                <a:sym typeface="Calibri"/>
              </a:rPr>
              <a:t>: With symbolic links an administrator can assign a file or directory multiple identities. Symbolic link can be thought of as a pointer to an original file.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nvSpPr>
        <p:spPr>
          <a:xfrm>
            <a:off x="471996" y="1220614"/>
            <a:ext cx="1124800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Managing Permissions</a:t>
            </a:r>
            <a:r>
              <a:rPr lang="en-US" sz="1800">
                <a:solidFill>
                  <a:schemeClr val="dk1"/>
                </a:solidFill>
                <a:latin typeface="Calibri"/>
                <a:ea typeface="Calibri"/>
                <a:cs typeface="Calibri"/>
                <a:sym typeface="Calibri"/>
              </a:rPr>
              <a:t>: Field 2nd, 3rd and 4th represents permissions for owner, group owner and other users. Each of that field contain three basic permissions which allow user to read, write, and executes files. The effect of these permissions differ when applied to file or directory.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applied to a file, the read permission gives user the right to open file for reading. Therefore, user can read it’s contain. “chmod” command is use to change these basic permissions. </a:t>
            </a:r>
            <a:endParaRPr/>
          </a:p>
        </p:txBody>
      </p:sp>
      <p:pic>
        <p:nvPicPr>
          <p:cNvPr id="101" name="Google Shape;101;p3"/>
          <p:cNvPicPr preferRelativeResize="0"/>
          <p:nvPr/>
        </p:nvPicPr>
        <p:blipFill rotWithShape="1">
          <a:blip r:embed="rId3">
            <a:alphaModFix/>
          </a:blip>
          <a:srcRect b="0" l="0" r="0" t="0"/>
          <a:stretch/>
        </p:blipFill>
        <p:spPr>
          <a:xfrm>
            <a:off x="2419225" y="310371"/>
            <a:ext cx="6430272" cy="724001"/>
          </a:xfrm>
          <a:prstGeom prst="rect">
            <a:avLst/>
          </a:prstGeom>
          <a:noFill/>
          <a:ln>
            <a:noFill/>
          </a:ln>
        </p:spPr>
      </p:pic>
      <p:pic>
        <p:nvPicPr>
          <p:cNvPr id="102" name="Google Shape;102;p3"/>
          <p:cNvPicPr preferRelativeResize="0"/>
          <p:nvPr/>
        </p:nvPicPr>
        <p:blipFill rotWithShape="1">
          <a:blip r:embed="rId4">
            <a:alphaModFix/>
          </a:blip>
          <a:srcRect b="0" l="0" r="0" t="0"/>
          <a:stretch/>
        </p:blipFill>
        <p:spPr>
          <a:xfrm>
            <a:off x="2132544" y="3161182"/>
            <a:ext cx="7055844" cy="233473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nvSpPr>
        <p:spPr>
          <a:xfrm>
            <a:off x="321814" y="290250"/>
            <a:ext cx="1138783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Link Count</a:t>
            </a:r>
            <a:r>
              <a:rPr lang="en-US" sz="1800">
                <a:solidFill>
                  <a:schemeClr val="dk1"/>
                </a:solidFill>
                <a:latin typeface="Calibri"/>
                <a:ea typeface="Calibri"/>
                <a:cs typeface="Calibri"/>
                <a:sym typeface="Calibri"/>
              </a:rPr>
              <a:t>: Also called as reference count. It shows count of links of file/directory that has been created. Default link count of directory is 2 whereas default link count of file is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Whenever new directory is created, link count of its just parent directory will increase by 1. There are two types of symbolic link, a. Hard Link b. Soft Link </a:t>
            </a:r>
            <a:endParaRPr/>
          </a:p>
        </p:txBody>
      </p:sp>
      <p:sp>
        <p:nvSpPr>
          <p:cNvPr id="108" name="Google Shape;108;p4"/>
          <p:cNvSpPr txBox="1"/>
          <p:nvPr/>
        </p:nvSpPr>
        <p:spPr>
          <a:xfrm>
            <a:off x="490490" y="5637320"/>
            <a:ext cx="1101496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151515"/>
                </a:solidFill>
                <a:latin typeface="Red Hat Text"/>
                <a:ea typeface="Red Hat Text"/>
                <a:cs typeface="Red Hat Text"/>
                <a:sym typeface="Red Hat Text"/>
              </a:rPr>
              <a:t>What is an </a:t>
            </a:r>
            <a:r>
              <a:rPr b="1" i="0" lang="en-US" sz="1800">
                <a:solidFill>
                  <a:srgbClr val="151515"/>
                </a:solidFill>
                <a:latin typeface="Red Hat Text"/>
                <a:ea typeface="Red Hat Text"/>
                <a:cs typeface="Red Hat Text"/>
                <a:sym typeface="Red Hat Text"/>
              </a:rPr>
              <a:t>inode</a:t>
            </a:r>
            <a:r>
              <a:rPr b="0" i="0" lang="en-US" sz="1800">
                <a:solidFill>
                  <a:srgbClr val="151515"/>
                </a:solidFill>
                <a:latin typeface="Red Hat Text"/>
                <a:ea typeface="Red Hat Text"/>
                <a:cs typeface="Red Hat Text"/>
                <a:sym typeface="Red Hat Text"/>
              </a:rPr>
              <a:t>?</a:t>
            </a:r>
            <a:endParaRPr/>
          </a:p>
          <a:p>
            <a:pPr indent="0" lvl="0" marL="0" marR="0" rtl="0" algn="l">
              <a:spcBef>
                <a:spcPts val="0"/>
              </a:spcBef>
              <a:spcAft>
                <a:spcPts val="0"/>
              </a:spcAft>
              <a:buNone/>
            </a:pPr>
            <a:r>
              <a:rPr b="0" i="0" lang="en-US" sz="1800">
                <a:solidFill>
                  <a:schemeClr val="lt1"/>
                </a:solidFill>
                <a:latin typeface="Red Hat Text"/>
                <a:ea typeface="Red Hat Text"/>
                <a:cs typeface="Red Hat Text"/>
                <a:sym typeface="Red Hat Text"/>
              </a:rPr>
              <a:t>By definition, an inode is an index node. It serves as a unique identifier for a specific piece of </a:t>
            </a:r>
            <a:r>
              <a:rPr b="1" i="0" lang="en-US" sz="1800">
                <a:solidFill>
                  <a:schemeClr val="lt1"/>
                </a:solidFill>
                <a:latin typeface="Red Hat Text"/>
                <a:ea typeface="Red Hat Text"/>
                <a:cs typeface="Red Hat Text"/>
                <a:sym typeface="Red Hat Text"/>
              </a:rPr>
              <a:t>metadata</a:t>
            </a:r>
            <a:r>
              <a:rPr b="0" i="0" lang="en-US" sz="1800">
                <a:solidFill>
                  <a:schemeClr val="lt1"/>
                </a:solidFill>
                <a:latin typeface="Red Hat Text"/>
                <a:ea typeface="Red Hat Text"/>
                <a:cs typeface="Red Hat Text"/>
                <a:sym typeface="Red Hat Text"/>
              </a:rPr>
              <a:t> on a given </a:t>
            </a:r>
            <a:r>
              <a:rPr b="1" i="0" lang="en-US" sz="1800">
                <a:solidFill>
                  <a:schemeClr val="lt1"/>
                </a:solidFill>
                <a:latin typeface="Red Hat Text"/>
                <a:ea typeface="Red Hat Text"/>
                <a:cs typeface="Red Hat Text"/>
                <a:sym typeface="Red Hat Text"/>
              </a:rPr>
              <a:t>filesystem</a:t>
            </a:r>
            <a:r>
              <a:rPr b="0" i="0" lang="en-US" sz="1800">
                <a:solidFill>
                  <a:schemeClr val="lt1"/>
                </a:solidFill>
                <a:latin typeface="Red Hat Text"/>
                <a:ea typeface="Red Hat Text"/>
                <a:cs typeface="Red Hat Text"/>
                <a:sym typeface="Red Hat Text"/>
              </a:rPr>
              <a:t>.</a:t>
            </a:r>
            <a:endParaRPr/>
          </a:p>
        </p:txBody>
      </p:sp>
      <p:pic>
        <p:nvPicPr>
          <p:cNvPr id="109" name="Google Shape;109;p4"/>
          <p:cNvPicPr preferRelativeResize="0"/>
          <p:nvPr/>
        </p:nvPicPr>
        <p:blipFill rotWithShape="1">
          <a:blip r:embed="rId3">
            <a:alphaModFix/>
          </a:blip>
          <a:srcRect b="0" l="0" r="0" t="0"/>
          <a:stretch/>
        </p:blipFill>
        <p:spPr>
          <a:xfrm>
            <a:off x="2271566" y="1911292"/>
            <a:ext cx="7199655" cy="347745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nvSpPr>
        <p:spPr>
          <a:xfrm>
            <a:off x="292964" y="1501156"/>
            <a:ext cx="1102606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User and group ownership</a:t>
            </a:r>
            <a:r>
              <a:rPr lang="en-US" sz="1800">
                <a:solidFill>
                  <a:schemeClr val="dk1"/>
                </a:solidFill>
                <a:latin typeface="Calibri"/>
                <a:ea typeface="Calibri"/>
                <a:cs typeface="Calibri"/>
                <a:sym typeface="Calibri"/>
              </a:rPr>
              <a:t>: Basically, by default, user who creates the file/directory is the owner and his primary group acquires group ownerships of that file/directory.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User owner and group owner of file will be shown in 6th and 7th field as shown in the figure. “chown” command is use to change owner and group where as using “chgrp” we can change group ownership.</a:t>
            </a:r>
            <a:endParaRPr/>
          </a:p>
        </p:txBody>
      </p:sp>
      <p:pic>
        <p:nvPicPr>
          <p:cNvPr id="115" name="Google Shape;115;p5"/>
          <p:cNvPicPr preferRelativeResize="0"/>
          <p:nvPr/>
        </p:nvPicPr>
        <p:blipFill rotWithShape="1">
          <a:blip r:embed="rId3">
            <a:alphaModFix/>
          </a:blip>
          <a:srcRect b="0" l="0" r="0" t="0"/>
          <a:stretch/>
        </p:blipFill>
        <p:spPr>
          <a:xfrm>
            <a:off x="2419225" y="328127"/>
            <a:ext cx="6430272" cy="724001"/>
          </a:xfrm>
          <a:prstGeom prst="rect">
            <a:avLst/>
          </a:prstGeom>
          <a:noFill/>
          <a:ln>
            <a:noFill/>
          </a:ln>
        </p:spPr>
      </p:pic>
      <p:pic>
        <p:nvPicPr>
          <p:cNvPr id="116" name="Google Shape;116;p5"/>
          <p:cNvPicPr preferRelativeResize="0"/>
          <p:nvPr/>
        </p:nvPicPr>
        <p:blipFill rotWithShape="1">
          <a:blip r:embed="rId4">
            <a:alphaModFix/>
          </a:blip>
          <a:srcRect b="0" l="0" r="0" t="0"/>
          <a:stretch/>
        </p:blipFill>
        <p:spPr>
          <a:xfrm>
            <a:off x="2222417" y="3220291"/>
            <a:ext cx="8395277" cy="886257"/>
          </a:xfrm>
          <a:prstGeom prst="rect">
            <a:avLst/>
          </a:prstGeom>
          <a:noFill/>
          <a:ln>
            <a:noFill/>
          </a:ln>
        </p:spPr>
      </p:pic>
      <p:pic>
        <p:nvPicPr>
          <p:cNvPr id="117" name="Google Shape;117;p5"/>
          <p:cNvPicPr preferRelativeResize="0"/>
          <p:nvPr/>
        </p:nvPicPr>
        <p:blipFill rotWithShape="1">
          <a:blip r:embed="rId5">
            <a:alphaModFix/>
          </a:blip>
          <a:srcRect b="0" l="0" r="0" t="0"/>
          <a:stretch/>
        </p:blipFill>
        <p:spPr>
          <a:xfrm>
            <a:off x="1917467" y="5195647"/>
            <a:ext cx="7978473" cy="1030992"/>
          </a:xfrm>
          <a:prstGeom prst="rect">
            <a:avLst/>
          </a:prstGeom>
          <a:noFill/>
          <a:ln>
            <a:noFill/>
          </a:ln>
        </p:spPr>
      </p:pic>
      <p:sp>
        <p:nvSpPr>
          <p:cNvPr id="118" name="Google Shape;118;p5"/>
          <p:cNvSpPr txBox="1"/>
          <p:nvPr/>
        </p:nvSpPr>
        <p:spPr>
          <a:xfrm>
            <a:off x="3328813" y="4495100"/>
            <a:ext cx="5155800" cy="3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chmod (u,g,o) +-= (rwx) filename</a:t>
            </a: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nvSpPr>
        <p:spPr>
          <a:xfrm>
            <a:off x="355107" y="290212"/>
            <a:ext cx="10342500" cy="757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Default Permission</a:t>
            </a:r>
            <a:r>
              <a:rPr lang="en-US" sz="1800">
                <a:solidFill>
                  <a:schemeClr val="dk1"/>
                </a:solidFill>
                <a:latin typeface="Calibri"/>
                <a:ea typeface="Calibri"/>
                <a:cs typeface="Calibri"/>
                <a:sym typeface="Calibri"/>
              </a:rPr>
              <a:t>: When a user creates a file as a regular user, it’s given permission rw rw-r-- (</a:t>
            </a:r>
            <a:r>
              <a:rPr b="1" lang="en-US" sz="1800">
                <a:solidFill>
                  <a:schemeClr val="dk1"/>
                </a:solidFill>
                <a:latin typeface="Calibri"/>
                <a:ea typeface="Calibri"/>
                <a:cs typeface="Calibri"/>
                <a:sym typeface="Calibri"/>
              </a:rPr>
              <a:t>664</a:t>
            </a:r>
            <a:r>
              <a:rPr lang="en-US" sz="1800">
                <a:solidFill>
                  <a:schemeClr val="dk1"/>
                </a:solidFill>
                <a:latin typeface="Calibri"/>
                <a:ea typeface="Calibri"/>
                <a:cs typeface="Calibri"/>
                <a:sym typeface="Calibri"/>
              </a:rPr>
              <a:t>) by default. A directory is given the permission rwxrwxr-x (</a:t>
            </a:r>
            <a:r>
              <a:rPr b="1" lang="en-US" sz="1800">
                <a:solidFill>
                  <a:schemeClr val="dk1"/>
                </a:solidFill>
                <a:latin typeface="Calibri"/>
                <a:ea typeface="Calibri"/>
                <a:cs typeface="Calibri"/>
                <a:sym typeface="Calibri"/>
              </a:rPr>
              <a:t>775</a:t>
            </a: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For the root user, file and directory permission are rw-r--r-- (</a:t>
            </a:r>
            <a:r>
              <a:rPr b="1" lang="en-US" sz="1800">
                <a:solidFill>
                  <a:schemeClr val="dk1"/>
                </a:solidFill>
                <a:latin typeface="Calibri"/>
                <a:ea typeface="Calibri"/>
                <a:cs typeface="Calibri"/>
                <a:sym typeface="Calibri"/>
              </a:rPr>
              <a:t>644</a:t>
            </a:r>
            <a:r>
              <a:rPr lang="en-US" sz="1800">
                <a:solidFill>
                  <a:schemeClr val="dk1"/>
                </a:solidFill>
                <a:latin typeface="Calibri"/>
                <a:ea typeface="Calibri"/>
                <a:cs typeface="Calibri"/>
                <a:sym typeface="Calibri"/>
              </a:rPr>
              <a:t>) and rwxr-xr-x (</a:t>
            </a:r>
            <a:r>
              <a:rPr b="1" lang="en-US" sz="1800">
                <a:solidFill>
                  <a:schemeClr val="dk1"/>
                </a:solidFill>
                <a:latin typeface="Calibri"/>
                <a:ea typeface="Calibri"/>
                <a:cs typeface="Calibri"/>
                <a:sym typeface="Calibri"/>
              </a:rPr>
              <a:t>755</a:t>
            </a:r>
            <a:r>
              <a:rPr lang="en-US" sz="1800">
                <a:solidFill>
                  <a:schemeClr val="dk1"/>
                </a:solidFill>
                <a:latin typeface="Calibri"/>
                <a:ea typeface="Calibri"/>
                <a:cs typeface="Calibri"/>
                <a:sym typeface="Calibri"/>
              </a:rPr>
              <a:t>), respectively. These default values are determined by the value of umask.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Type umask to see what your umask value is. If you ignore the leading zero for the moment, the umask value masks what is considered to be fully opened permissions for a file 666 or a directory 777.</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The umask value of 002 results in permission for a directory of 775 (rwxrwxr-x). That same umask results in a file permission of 644 (rw-rw-r--).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root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full </a:t>
            </a:r>
            <a:r>
              <a:rPr lang="en-US" sz="1800">
                <a:solidFill>
                  <a:schemeClr val="dk1"/>
                </a:solidFill>
                <a:latin typeface="Calibri"/>
                <a:ea typeface="Calibri"/>
                <a:cs typeface="Calibri"/>
                <a:sym typeface="Calibri"/>
              </a:rPr>
              <a:t>permission</a:t>
            </a:r>
            <a:r>
              <a:rPr lang="en-US" sz="1800">
                <a:solidFill>
                  <a:schemeClr val="dk1"/>
                </a:solidFill>
                <a:latin typeface="Calibri"/>
                <a:ea typeface="Calibri"/>
                <a:cs typeface="Calibri"/>
                <a:sym typeface="Calibri"/>
              </a:rPr>
              <a:t> - umask = defalt </a:t>
            </a:r>
            <a:r>
              <a:rPr lang="en-US" sz="1800">
                <a:solidFill>
                  <a:schemeClr val="dk1"/>
                </a:solidFill>
                <a:latin typeface="Calibri"/>
                <a:ea typeface="Calibri"/>
                <a:cs typeface="Calibri"/>
                <a:sym typeface="Calibri"/>
              </a:rPr>
              <a:t>permission</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file 666 - 022 = 644</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dir 777 - 022 = 755</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local/regular </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800">
                <a:solidFill>
                  <a:schemeClr val="dk1"/>
                </a:solidFill>
                <a:latin typeface="Calibri"/>
                <a:ea typeface="Calibri"/>
                <a:cs typeface="Calibri"/>
                <a:sym typeface="Calibri"/>
              </a:rPr>
              <a:t>full permission - umask = defalt permission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file 666 - 002 = 664</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dir 777 - 002 = 775</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4" name="Google Shape;124;p6"/>
          <p:cNvPicPr preferRelativeResize="0"/>
          <p:nvPr/>
        </p:nvPicPr>
        <p:blipFill rotWithShape="1">
          <a:blip r:embed="rId3">
            <a:alphaModFix/>
          </a:blip>
          <a:srcRect b="0" l="0" r="0" t="0"/>
          <a:stretch/>
        </p:blipFill>
        <p:spPr>
          <a:xfrm>
            <a:off x="2031424" y="1880634"/>
            <a:ext cx="7156964" cy="69464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2025-07-30T13:56:27Z</dcterms:created>
  <dc:creator>Mukund Deotale</dc:creator>
</cp:coreProperties>
</file>